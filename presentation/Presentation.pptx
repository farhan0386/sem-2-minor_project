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280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55828" y="135763"/>
            <a:ext cx="5416550" cy="983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2067" y="135763"/>
            <a:ext cx="8112125" cy="9836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5459" y="1219581"/>
            <a:ext cx="8133080" cy="2805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-3"/>
            <a:ext cx="9126220" cy="6858000"/>
            <a:chOff x="0" y="-3"/>
            <a:chExt cx="912622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-3"/>
              <a:ext cx="9126189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65148" y="2204847"/>
              <a:ext cx="6306820" cy="0"/>
            </a:xfrm>
            <a:custGeom>
              <a:avLst/>
              <a:gdLst/>
              <a:ahLst/>
              <a:cxnLst/>
              <a:rect l="l" t="t" r="r" b="b"/>
              <a:pathLst>
                <a:path w="6306820">
                  <a:moveTo>
                    <a:pt x="0" y="0"/>
                  </a:moveTo>
                  <a:lnTo>
                    <a:pt x="6306566" y="0"/>
                  </a:lnTo>
                </a:path>
              </a:pathLst>
            </a:custGeom>
            <a:ln w="9528">
              <a:solidFill>
                <a:srgbClr val="49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0329" y="150240"/>
              <a:ext cx="6396101" cy="920877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2680842" y="2381503"/>
            <a:ext cx="3867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88390" marR="5080" indent="-1076325">
              <a:lnSpc>
                <a:spcPct val="100000"/>
              </a:lnSpc>
              <a:spcBef>
                <a:spcPts val="100"/>
              </a:spcBef>
            </a:pPr>
            <a:r>
              <a:rPr sz="2400" b="1" spc="-20" dirty="0">
                <a:solidFill>
                  <a:srgbClr val="006FC0"/>
                </a:solidFill>
                <a:latin typeface="Calibri"/>
                <a:cs typeface="Calibri"/>
              </a:rPr>
              <a:t>Pre-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Final</a:t>
            </a:r>
            <a:r>
              <a:rPr sz="24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40" dirty="0">
                <a:solidFill>
                  <a:srgbClr val="006FC0"/>
                </a:solidFill>
                <a:latin typeface="Calibri"/>
                <a:cs typeface="Calibri"/>
              </a:rPr>
              <a:t>Year</a:t>
            </a:r>
            <a:r>
              <a:rPr sz="24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006FC0"/>
                </a:solidFill>
                <a:latin typeface="Calibri"/>
                <a:cs typeface="Calibri"/>
              </a:rPr>
              <a:t>Project</a:t>
            </a:r>
            <a:r>
              <a:rPr sz="24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006FC0"/>
                </a:solidFill>
                <a:latin typeface="Calibri"/>
                <a:cs typeface="Calibri"/>
              </a:rPr>
              <a:t>Progress Submitted</a:t>
            </a:r>
            <a:r>
              <a:rPr sz="24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006FC0"/>
                </a:solidFill>
                <a:latin typeface="Calibri"/>
                <a:cs typeface="Calibri"/>
              </a:rPr>
              <a:t>by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664080" y="3498976"/>
          <a:ext cx="6096000" cy="21932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ROLL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2501730002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FARHAN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2501730166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KARTIK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2501730308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AVIJIT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2501730011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TRIGYA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FD4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97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2501730315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20" dirty="0">
                          <a:latin typeface="Calibri"/>
                          <a:cs typeface="Calibri"/>
                        </a:rPr>
                        <a:t>AMAN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720"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2501730034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ts val="1889"/>
                        </a:lnSpc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TANISHKA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528699" y="1386078"/>
            <a:ext cx="638175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72080" marR="5080" indent="-266001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AI-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Integrated</a:t>
            </a:r>
            <a:r>
              <a:rPr sz="2400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Library</a:t>
            </a:r>
            <a:r>
              <a:rPr sz="2400" spc="-9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Management</a:t>
            </a:r>
            <a:r>
              <a:rPr sz="2400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System</a:t>
            </a:r>
            <a:r>
              <a:rPr sz="2400" spc="-5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C00000"/>
                </a:solidFill>
                <a:latin typeface="Calibri"/>
                <a:cs typeface="Calibri"/>
              </a:rPr>
              <a:t>—</a:t>
            </a:r>
            <a:r>
              <a:rPr sz="2400" spc="-7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C00000"/>
                </a:solidFill>
                <a:latin typeface="Calibri"/>
                <a:cs typeface="Calibri"/>
              </a:rPr>
              <a:t>Data </a:t>
            </a:r>
            <a:r>
              <a:rPr sz="2400" spc="-10" dirty="0">
                <a:solidFill>
                  <a:srgbClr val="C00000"/>
                </a:solidFill>
                <a:latin typeface="Calibri"/>
                <a:cs typeface="Calibri"/>
              </a:rPr>
              <a:t>Analysis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15264" y="5752287"/>
            <a:ext cx="363092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Industry</a:t>
            </a:r>
            <a:r>
              <a:rPr sz="18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Mentor:</a:t>
            </a:r>
            <a:r>
              <a:rPr sz="18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Mr.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Vishwanil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Suman</a:t>
            </a:r>
            <a:endParaRPr sz="1800">
              <a:latin typeface="Calibri"/>
              <a:cs typeface="Calibri"/>
            </a:endParaRPr>
          </a:p>
          <a:p>
            <a:pPr marL="64135">
              <a:lnSpc>
                <a:spcPct val="100000"/>
              </a:lnSpc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Faculty</a:t>
            </a:r>
            <a:r>
              <a:rPr sz="18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Mentor:</a:t>
            </a:r>
            <a:r>
              <a:rPr sz="18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Mohammad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Aijaz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 </a:t>
            </a:r>
            <a:r>
              <a:rPr spc="-10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4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2"/>
                </a:lnTo>
                <a:lnTo>
                  <a:pt x="9144000" y="254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219581"/>
            <a:ext cx="8099425" cy="33648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Calibri"/>
                <a:cs typeface="Calibri"/>
              </a:rPr>
              <a:t>This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project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transforms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traditional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library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management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system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into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data-driven</a:t>
            </a:r>
            <a:r>
              <a:rPr sz="1700" spc="5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analytical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solution.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Python,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Pandas,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Matplotlib,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analyse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real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library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transaction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uncover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borrowing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patterns,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fine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trends,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student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behaviour.</a:t>
            </a:r>
            <a:endParaRPr sz="1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006FC0"/>
                </a:solidFill>
                <a:latin typeface="Calibri"/>
                <a:cs typeface="Calibri"/>
              </a:rPr>
              <a:t>Problem</a:t>
            </a:r>
            <a:r>
              <a:rPr sz="17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006FC0"/>
                </a:solidFill>
                <a:latin typeface="Calibri"/>
                <a:cs typeface="Calibri"/>
              </a:rPr>
              <a:t>Statement:</a:t>
            </a:r>
            <a:endParaRPr sz="1700">
              <a:latin typeface="Calibri"/>
              <a:cs typeface="Calibri"/>
            </a:endParaRPr>
          </a:p>
          <a:p>
            <a:pPr marL="12700" marR="26670">
              <a:lnSpc>
                <a:spcPct val="100000"/>
              </a:lnSpc>
              <a:spcBef>
                <a:spcPts val="114"/>
              </a:spcBef>
            </a:pPr>
            <a:r>
              <a:rPr sz="1600" spc="-20" dirty="0">
                <a:latin typeface="Calibri"/>
                <a:cs typeface="Calibri"/>
              </a:rPr>
              <a:t>Traditional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library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systems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rely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heavily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manual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processes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book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issue,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return,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fine </a:t>
            </a:r>
            <a:r>
              <a:rPr sz="1600" dirty="0">
                <a:latin typeface="Calibri"/>
                <a:cs typeface="Calibri"/>
              </a:rPr>
              <a:t>management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—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leading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errors,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delays,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lack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actionable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insights.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There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mechanism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identify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borrowing</a:t>
            </a:r>
            <a:r>
              <a:rPr sz="1600" spc="-10" dirty="0">
                <a:latin typeface="Calibri"/>
                <a:cs typeface="Calibri"/>
              </a:rPr>
              <a:t> patterns,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predict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student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risk,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understand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peak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demand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periods.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b="1" dirty="0">
                <a:solidFill>
                  <a:srgbClr val="006FC0"/>
                </a:solidFill>
                <a:latin typeface="Calibri"/>
                <a:cs typeface="Calibri"/>
              </a:rPr>
              <a:t>Our</a:t>
            </a:r>
            <a:r>
              <a:rPr sz="1700" b="1" spc="-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700" b="1" spc="-10" dirty="0">
                <a:solidFill>
                  <a:srgbClr val="006FC0"/>
                </a:solidFill>
                <a:latin typeface="Calibri"/>
                <a:cs typeface="Calibri"/>
              </a:rPr>
              <a:t>Solution:</a:t>
            </a:r>
            <a:endParaRPr sz="1700">
              <a:latin typeface="Calibri"/>
              <a:cs typeface="Calibri"/>
            </a:endParaRPr>
          </a:p>
          <a:p>
            <a:pPr marL="12700" marR="30480">
              <a:lnSpc>
                <a:spcPct val="100000"/>
              </a:lnSpc>
              <a:spcBef>
                <a:spcPts val="115"/>
              </a:spcBef>
            </a:pPr>
            <a:r>
              <a:rPr sz="1600" dirty="0">
                <a:latin typeface="Calibri"/>
                <a:cs typeface="Calibri"/>
              </a:rPr>
              <a:t>Applied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analysis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1000+ library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transactions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across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200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students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30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books,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answering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6 </a:t>
            </a:r>
            <a:r>
              <a:rPr sz="1600" dirty="0">
                <a:latin typeface="Calibri"/>
                <a:cs typeface="Calibri"/>
              </a:rPr>
              <a:t>key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research </a:t>
            </a:r>
            <a:r>
              <a:rPr sz="1600" spc="-10" dirty="0">
                <a:latin typeface="Calibri"/>
                <a:cs typeface="Calibri"/>
              </a:rPr>
              <a:t>questions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through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8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visualisations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prediction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model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machine learning.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Specific</a:t>
            </a:r>
            <a:r>
              <a:rPr spc="-170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4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2"/>
                </a:lnTo>
                <a:lnTo>
                  <a:pt x="9144000" y="254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216532"/>
            <a:ext cx="6191250" cy="217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Research</a:t>
            </a:r>
            <a:r>
              <a:rPr sz="20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Questions</a:t>
            </a:r>
            <a:r>
              <a:rPr sz="20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as</a:t>
            </a:r>
            <a:r>
              <a:rPr sz="20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Objectives: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5"/>
              </a:spcBef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Identify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most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least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borrowed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books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genres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Analyse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monthly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borrowing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trends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across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academic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year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Determine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which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department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borrows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most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books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Calculate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average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fine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amounts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identify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high-</a:t>
            </a:r>
            <a:r>
              <a:rPr sz="1700" dirty="0">
                <a:latin typeface="Calibri"/>
                <a:cs typeface="Calibri"/>
              </a:rPr>
              <a:t>risk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departments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Analyse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late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return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patterns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average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overdue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days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Classify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most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common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student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chatbot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query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types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Key </a:t>
            </a:r>
            <a:r>
              <a:rPr spc="-10" dirty="0"/>
              <a:t>Features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4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2"/>
                </a:lnTo>
                <a:lnTo>
                  <a:pt x="9144000" y="254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216532"/>
            <a:ext cx="5778500" cy="2172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What</a:t>
            </a:r>
            <a:r>
              <a:rPr sz="20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Makes</a:t>
            </a:r>
            <a:r>
              <a:rPr sz="20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This</a:t>
            </a:r>
            <a:r>
              <a:rPr sz="20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Project</a:t>
            </a:r>
            <a:r>
              <a:rPr sz="20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Special: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5"/>
              </a:spcBef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1000+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library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transactions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analysed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Python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&amp;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Pandas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8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visualisations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Matplotlib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&amp;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Seaborn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Fine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prediction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model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Scikit-</a:t>
            </a:r>
            <a:r>
              <a:rPr sz="1700" dirty="0">
                <a:latin typeface="Calibri"/>
                <a:cs typeface="Calibri"/>
              </a:rPr>
              <a:t>learn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(ML)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Chatbot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query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log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analysis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(NLP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angle)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Synthetic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dataset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generated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programmatically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Python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Clean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Jupyter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Notebook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with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documented,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reproducible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code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5763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Progress</a:t>
            </a:r>
            <a:r>
              <a:rPr spc="-40" dirty="0"/>
              <a:t> </a:t>
            </a:r>
            <a:r>
              <a:rPr spc="-10" dirty="0"/>
              <a:t>Summary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4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2"/>
                </a:lnTo>
                <a:lnTo>
                  <a:pt x="9144000" y="254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35940" y="1216532"/>
            <a:ext cx="1991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Progress</a:t>
            </a:r>
            <a:r>
              <a:rPr sz="2000" b="1" spc="-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Checklist: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765" y="1807845"/>
            <a:ext cx="521969" cy="42748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535940" y="1807845"/>
            <a:ext cx="133350" cy="1581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700" spc="-50" dirty="0">
                <a:latin typeface="Calibri"/>
                <a:cs typeface="Calibri"/>
              </a:rPr>
              <a:t>•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latin typeface="Calibri"/>
                <a:cs typeface="Calibri"/>
              </a:rPr>
              <a:t>•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latin typeface="Calibri"/>
                <a:cs typeface="Calibri"/>
              </a:rPr>
              <a:t>•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latin typeface="Calibri"/>
                <a:cs typeface="Calibri"/>
              </a:rPr>
              <a:t>•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latin typeface="Calibri"/>
                <a:cs typeface="Calibri"/>
              </a:rPr>
              <a:t>•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spc="-50" dirty="0">
                <a:latin typeface="Calibri"/>
                <a:cs typeface="Calibri"/>
              </a:rPr>
              <a:t>•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7096" y="1807845"/>
            <a:ext cx="2571115" cy="1581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700" dirty="0">
                <a:latin typeface="Calibri"/>
                <a:cs typeface="Calibri"/>
              </a:rPr>
              <a:t>Dataset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generated</a:t>
            </a:r>
            <a:r>
              <a:rPr sz="1700" spc="-7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&amp;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cleaned</a:t>
            </a:r>
            <a:r>
              <a:rPr lang="en-US"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EDA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completed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(6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analyses)</a:t>
            </a:r>
            <a:r>
              <a:rPr sz="1700" spc="50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8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charts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created</a:t>
            </a:r>
            <a:endParaRPr sz="1700" dirty="0">
              <a:latin typeface="Calibri"/>
              <a:cs typeface="Calibri"/>
            </a:endParaRPr>
          </a:p>
          <a:p>
            <a:pPr marL="12700" marR="208915">
              <a:lnSpc>
                <a:spcPct val="100000"/>
              </a:lnSpc>
            </a:pPr>
            <a:r>
              <a:rPr sz="1700" dirty="0">
                <a:latin typeface="Calibri"/>
                <a:cs typeface="Calibri"/>
              </a:rPr>
              <a:t>ML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model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progress </a:t>
            </a:r>
            <a:r>
              <a:rPr sz="1700" dirty="0">
                <a:latin typeface="Calibri"/>
                <a:cs typeface="Calibri"/>
              </a:rPr>
              <a:t>Report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writing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progress </a:t>
            </a:r>
            <a:r>
              <a:rPr sz="1700" dirty="0">
                <a:latin typeface="Calibri"/>
                <a:cs typeface="Calibri"/>
              </a:rPr>
              <a:t>Final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presentation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pending</a:t>
            </a:r>
            <a:endParaRPr sz="1700" dirty="0">
              <a:latin typeface="Calibri"/>
              <a:cs typeface="Calibri"/>
            </a:endParaRPr>
          </a:p>
        </p:txBody>
      </p:sp>
      <p:pic>
        <p:nvPicPr>
          <p:cNvPr id="15" name="object 7">
            <a:extLst>
              <a:ext uri="{FF2B5EF4-FFF2-40B4-BE49-F238E27FC236}">
                <a16:creationId xmlns:a16="http://schemas.microsoft.com/office/drawing/2014/main" id="{92563937-C5FE-9416-194C-134084CE355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9652" y="2043785"/>
            <a:ext cx="521969" cy="427482"/>
          </a:xfrm>
          <a:prstGeom prst="rect">
            <a:avLst/>
          </a:prstGeom>
        </p:spPr>
      </p:pic>
      <p:pic>
        <p:nvPicPr>
          <p:cNvPr id="16" name="object 7">
            <a:extLst>
              <a:ext uri="{FF2B5EF4-FFF2-40B4-BE49-F238E27FC236}">
                <a16:creationId xmlns:a16="http://schemas.microsoft.com/office/drawing/2014/main" id="{DA5020F9-6DE2-870B-2F1B-2ED03A392FE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8046" y="2294505"/>
            <a:ext cx="521969" cy="427482"/>
          </a:xfrm>
          <a:prstGeom prst="rect">
            <a:avLst/>
          </a:prstGeom>
        </p:spPr>
      </p:pic>
      <p:pic>
        <p:nvPicPr>
          <p:cNvPr id="17" name="object 7">
            <a:extLst>
              <a:ext uri="{FF2B5EF4-FFF2-40B4-BE49-F238E27FC236}">
                <a16:creationId xmlns:a16="http://schemas.microsoft.com/office/drawing/2014/main" id="{1189A22D-7702-05A8-F645-2948A597F68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5293" y="3066098"/>
            <a:ext cx="521969" cy="427482"/>
          </a:xfrm>
          <a:prstGeom prst="rect">
            <a:avLst/>
          </a:prstGeom>
        </p:spPr>
      </p:pic>
      <p:pic>
        <p:nvPicPr>
          <p:cNvPr id="18" name="object 7">
            <a:extLst>
              <a:ext uri="{FF2B5EF4-FFF2-40B4-BE49-F238E27FC236}">
                <a16:creationId xmlns:a16="http://schemas.microsoft.com/office/drawing/2014/main" id="{F37A980D-9D52-E701-4B85-61219CBD075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6371" y="2543842"/>
            <a:ext cx="521969" cy="427482"/>
          </a:xfrm>
          <a:prstGeom prst="rect">
            <a:avLst/>
          </a:prstGeom>
        </p:spPr>
      </p:pic>
      <p:pic>
        <p:nvPicPr>
          <p:cNvPr id="19" name="object 7">
            <a:extLst>
              <a:ext uri="{FF2B5EF4-FFF2-40B4-BE49-F238E27FC236}">
                <a16:creationId xmlns:a16="http://schemas.microsoft.com/office/drawing/2014/main" id="{3473B21B-AAFF-A0A2-7B00-6795244C25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4765" y="2815378"/>
            <a:ext cx="521969" cy="42748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1144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</a:pPr>
            <a:r>
              <a:rPr sz="2800" dirty="0"/>
              <a:t>Detailed</a:t>
            </a:r>
            <a:r>
              <a:rPr sz="2800" spc="-110" dirty="0"/>
              <a:t> </a:t>
            </a:r>
            <a:r>
              <a:rPr sz="2800" dirty="0"/>
              <a:t>Progress</a:t>
            </a:r>
            <a:r>
              <a:rPr sz="2800" spc="-114" dirty="0"/>
              <a:t> </a:t>
            </a:r>
            <a:r>
              <a:rPr sz="2800" dirty="0"/>
              <a:t>–</a:t>
            </a:r>
            <a:r>
              <a:rPr sz="2800" spc="-130" dirty="0"/>
              <a:t> </a:t>
            </a:r>
            <a:r>
              <a:rPr sz="2800" dirty="0"/>
              <a:t>Development</a:t>
            </a:r>
            <a:r>
              <a:rPr sz="2800" spc="-90" dirty="0"/>
              <a:t> </a:t>
            </a:r>
            <a:r>
              <a:rPr sz="2800" spc="-10" dirty="0"/>
              <a:t>Phase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0" y="1048764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2"/>
                </a:lnTo>
                <a:lnTo>
                  <a:pt x="9144000" y="254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105"/>
              </a:spcBef>
            </a:pPr>
            <a:r>
              <a:rPr dirty="0"/>
              <a:t>Phase</a:t>
            </a:r>
            <a:r>
              <a:rPr spc="-60" dirty="0"/>
              <a:t> </a:t>
            </a:r>
            <a:r>
              <a:rPr dirty="0"/>
              <a:t>1:</a:t>
            </a:r>
            <a:r>
              <a:rPr spc="-20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spc="-10" dirty="0"/>
              <a:t>Collection</a:t>
            </a:r>
          </a:p>
          <a:p>
            <a:pPr marL="43180" marR="205104">
              <a:lnSpc>
                <a:spcPct val="100000"/>
              </a:lnSpc>
            </a:pP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Generated synthetic</a:t>
            </a:r>
            <a:r>
              <a:rPr sz="16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dataset</a:t>
            </a:r>
            <a:r>
              <a:rPr sz="16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with</a:t>
            </a:r>
            <a:r>
              <a:rPr sz="16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200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students,</a:t>
            </a:r>
            <a:r>
              <a:rPr sz="16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30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books,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16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1000+</a:t>
            </a:r>
            <a:r>
              <a:rPr sz="1600" b="0" spc="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transactions</a:t>
            </a:r>
            <a:r>
              <a:rPr sz="16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using</a:t>
            </a:r>
            <a:r>
              <a:rPr sz="16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Python.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Applied</a:t>
            </a:r>
            <a:r>
              <a:rPr sz="16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random</a:t>
            </a:r>
            <a:r>
              <a:rPr sz="16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distributions</a:t>
            </a:r>
            <a:r>
              <a:rPr sz="1600"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to</a:t>
            </a:r>
            <a:r>
              <a:rPr sz="16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simulate</a:t>
            </a:r>
            <a:r>
              <a:rPr sz="1600"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realistic</a:t>
            </a:r>
            <a:r>
              <a:rPr sz="16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borrowing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behaviour.</a:t>
            </a:r>
            <a:endParaRPr sz="16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160"/>
              </a:spcBef>
            </a:pPr>
            <a:endParaRPr sz="1600">
              <a:latin typeface="Calibri"/>
              <a:cs typeface="Calibri"/>
            </a:endParaRPr>
          </a:p>
          <a:p>
            <a:pPr marL="43180">
              <a:lnSpc>
                <a:spcPct val="100000"/>
              </a:lnSpc>
            </a:pPr>
            <a:r>
              <a:rPr dirty="0"/>
              <a:t>Phase</a:t>
            </a:r>
            <a:r>
              <a:rPr spc="-60" dirty="0"/>
              <a:t> </a:t>
            </a:r>
            <a:r>
              <a:rPr dirty="0"/>
              <a:t>2:</a:t>
            </a:r>
            <a:r>
              <a:rPr spc="-20" dirty="0"/>
              <a:t> </a:t>
            </a:r>
            <a:r>
              <a:rPr dirty="0"/>
              <a:t>Data</a:t>
            </a:r>
            <a:r>
              <a:rPr spc="-35" dirty="0"/>
              <a:t> </a:t>
            </a:r>
            <a:r>
              <a:rPr spc="-10" dirty="0"/>
              <a:t>Cleaning</a:t>
            </a:r>
          </a:p>
          <a:p>
            <a:pPr marL="43180" marR="5080">
              <a:lnSpc>
                <a:spcPct val="100000"/>
              </a:lnSpc>
              <a:spcBef>
                <a:spcPts val="15"/>
              </a:spcBef>
            </a:pP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Handled</a:t>
            </a:r>
            <a:r>
              <a:rPr sz="16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missing</a:t>
            </a:r>
            <a:r>
              <a:rPr sz="1600" b="0" spc="-5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values,</a:t>
            </a:r>
            <a:r>
              <a:rPr sz="16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formatted</a:t>
            </a:r>
            <a:r>
              <a:rPr sz="16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date</a:t>
            </a:r>
            <a:r>
              <a:rPr sz="1600" b="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columns,</a:t>
            </a:r>
            <a:r>
              <a:rPr sz="16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created</a:t>
            </a:r>
            <a:r>
              <a:rPr sz="16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derived</a:t>
            </a:r>
            <a:r>
              <a:rPr sz="16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columns</a:t>
            </a:r>
            <a:r>
              <a:rPr sz="16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including</a:t>
            </a:r>
            <a:r>
              <a:rPr sz="1600" b="0" spc="-8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fine_amount, days_late,</a:t>
            </a:r>
            <a:r>
              <a:rPr sz="16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16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overdue_flag</a:t>
            </a:r>
            <a:r>
              <a:rPr sz="1600" b="0" spc="1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using</a:t>
            </a:r>
            <a:r>
              <a:rPr sz="16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Pandas</a:t>
            </a:r>
            <a:r>
              <a:rPr sz="16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operations.</a:t>
            </a:r>
            <a:endParaRPr sz="1600">
              <a:latin typeface="Calibri"/>
              <a:cs typeface="Calibri"/>
            </a:endParaRPr>
          </a:p>
          <a:p>
            <a:pPr marL="30480">
              <a:lnSpc>
                <a:spcPct val="100000"/>
              </a:lnSpc>
              <a:spcBef>
                <a:spcPts val="155"/>
              </a:spcBef>
            </a:pPr>
            <a:endParaRPr sz="1600">
              <a:latin typeface="Calibri"/>
              <a:cs typeface="Calibri"/>
            </a:endParaRPr>
          </a:p>
          <a:p>
            <a:pPr marL="43180">
              <a:lnSpc>
                <a:spcPct val="100000"/>
              </a:lnSpc>
            </a:pPr>
            <a:r>
              <a:rPr dirty="0"/>
              <a:t>Phase</a:t>
            </a:r>
            <a:r>
              <a:rPr spc="-45" dirty="0"/>
              <a:t> </a:t>
            </a:r>
            <a:r>
              <a:rPr dirty="0"/>
              <a:t>3:</a:t>
            </a:r>
            <a:r>
              <a:rPr spc="-5" dirty="0"/>
              <a:t> </a:t>
            </a:r>
            <a:r>
              <a:rPr dirty="0"/>
              <a:t>Analysis</a:t>
            </a:r>
            <a:r>
              <a:rPr spc="-10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Visualisation</a:t>
            </a:r>
          </a:p>
          <a:p>
            <a:pPr marL="43180">
              <a:lnSpc>
                <a:spcPct val="100000"/>
              </a:lnSpc>
              <a:spcBef>
                <a:spcPts val="5"/>
              </a:spcBef>
            </a:pP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Performed</a:t>
            </a:r>
            <a:r>
              <a:rPr sz="1600" b="0" spc="-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Exploratory</a:t>
            </a:r>
            <a:r>
              <a:rPr sz="16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Data</a:t>
            </a:r>
            <a:r>
              <a:rPr sz="16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Analysis</a:t>
            </a:r>
            <a:r>
              <a:rPr sz="16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16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generated</a:t>
            </a:r>
            <a:r>
              <a:rPr sz="16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8</a:t>
            </a:r>
            <a:r>
              <a:rPr sz="1600" b="0" spc="-3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charts</a:t>
            </a:r>
            <a:r>
              <a:rPr sz="1600" b="0" spc="-4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answering</a:t>
            </a:r>
            <a:r>
              <a:rPr sz="16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all</a:t>
            </a:r>
            <a:r>
              <a:rPr sz="1600" b="0" spc="-6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6</a:t>
            </a:r>
            <a:r>
              <a:rPr sz="1600" b="0" spc="-4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research</a:t>
            </a:r>
            <a:r>
              <a:rPr sz="1600" b="0" spc="-1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questions.</a:t>
            </a:r>
            <a:endParaRPr sz="1600">
              <a:latin typeface="Calibri"/>
              <a:cs typeface="Calibri"/>
            </a:endParaRPr>
          </a:p>
          <a:p>
            <a:pPr marL="43180">
              <a:lnSpc>
                <a:spcPct val="100000"/>
              </a:lnSpc>
            </a:pP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Used</a:t>
            </a:r>
            <a:r>
              <a:rPr sz="16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25" dirty="0">
                <a:solidFill>
                  <a:srgbClr val="000000"/>
                </a:solidFill>
                <a:latin typeface="Calibri"/>
                <a:cs typeface="Calibri"/>
              </a:rPr>
              <a:t>Groupby,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 value_counts,</a:t>
            </a:r>
            <a:r>
              <a:rPr sz="1600" b="0" spc="-2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sz="1600" b="0" spc="-3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aggregation</a:t>
            </a:r>
            <a:r>
              <a:rPr sz="1600" b="0" spc="-50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dirty="0">
                <a:solidFill>
                  <a:srgbClr val="000000"/>
                </a:solidFill>
                <a:latin typeface="Calibri"/>
                <a:cs typeface="Calibri"/>
              </a:rPr>
              <a:t>functions</a:t>
            </a:r>
            <a:r>
              <a:rPr sz="1600" b="0" spc="-2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1600" b="0" spc="-10" dirty="0">
                <a:solidFill>
                  <a:srgbClr val="000000"/>
                </a:solidFill>
                <a:latin typeface="Calibri"/>
                <a:cs typeface="Calibri"/>
              </a:rPr>
              <a:t>throughout.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046" y="-1"/>
            <a:ext cx="9099931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6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Methodology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1048764"/>
            <a:ext cx="9144000" cy="5607685"/>
            <a:chOff x="0" y="1048764"/>
            <a:chExt cx="9144000" cy="5607685"/>
          </a:xfrm>
        </p:grpSpPr>
        <p:sp>
          <p:nvSpPr>
            <p:cNvPr id="5" name="object 5"/>
            <p:cNvSpPr/>
            <p:nvPr/>
          </p:nvSpPr>
          <p:spPr>
            <a:xfrm>
              <a:off x="0" y="1048764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9144000" y="0"/>
                  </a:moveTo>
                  <a:lnTo>
                    <a:pt x="0" y="0"/>
                  </a:lnTo>
                  <a:lnTo>
                    <a:pt x="0" y="25402"/>
                  </a:lnTo>
                  <a:lnTo>
                    <a:pt x="9144000" y="2540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5F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09" y="6309321"/>
              <a:ext cx="2411730" cy="34669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5940" y="1218057"/>
            <a:ext cx="6007100" cy="1791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5-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Step</a:t>
            </a:r>
            <a:r>
              <a:rPr sz="18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Methodology</a:t>
            </a:r>
            <a:r>
              <a:rPr sz="18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(Important</a:t>
            </a:r>
            <a:r>
              <a:rPr sz="18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for</a:t>
            </a: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Marks):</a:t>
            </a:r>
            <a:endParaRPr sz="18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spcBef>
                <a:spcPts val="2145"/>
              </a:spcBef>
              <a:buAutoNum type="arabicPeriod"/>
              <a:tabLst>
                <a:tab pos="257810" algn="l"/>
              </a:tabLst>
            </a:pP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Collection</a:t>
            </a:r>
            <a:r>
              <a:rPr sz="1600" spc="3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→</a:t>
            </a:r>
            <a:r>
              <a:rPr sz="1600" spc="3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Kaggle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search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/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synthetic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generation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Python</a:t>
            </a:r>
            <a:endParaRPr sz="16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buAutoNum type="arabicPeriod"/>
              <a:tabLst>
                <a:tab pos="257175" algn="l"/>
              </a:tabLst>
            </a:pPr>
            <a:r>
              <a:rPr sz="1600" dirty="0">
                <a:latin typeface="Calibri"/>
                <a:cs typeface="Calibri"/>
              </a:rPr>
              <a:t>Data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Cleaning</a:t>
            </a:r>
            <a:r>
              <a:rPr sz="1600" spc="3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→</a:t>
            </a:r>
            <a:r>
              <a:rPr sz="1600" spc="3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Pandas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(null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handling,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type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fixing,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derived</a:t>
            </a:r>
            <a:r>
              <a:rPr sz="1600" spc="-10" dirty="0">
                <a:latin typeface="Calibri"/>
                <a:cs typeface="Calibri"/>
              </a:rPr>
              <a:t> columns)</a:t>
            </a:r>
            <a:endParaRPr sz="16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buAutoNum type="arabicPeriod"/>
              <a:tabLst>
                <a:tab pos="257810" algn="l"/>
              </a:tabLst>
            </a:pPr>
            <a:r>
              <a:rPr sz="1600" spc="-10" dirty="0">
                <a:latin typeface="Calibri"/>
                <a:cs typeface="Calibri"/>
              </a:rPr>
              <a:t>Exploratory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Analysis</a:t>
            </a:r>
            <a:r>
              <a:rPr sz="1600" spc="2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→</a:t>
            </a:r>
            <a:r>
              <a:rPr sz="1600" spc="30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Groupby,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value_counts,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aggregations</a:t>
            </a:r>
            <a:endParaRPr sz="16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buAutoNum type="arabicPeriod"/>
              <a:tabLst>
                <a:tab pos="257810" algn="l"/>
              </a:tabLst>
            </a:pPr>
            <a:r>
              <a:rPr sz="1600" dirty="0">
                <a:latin typeface="Calibri"/>
                <a:cs typeface="Calibri"/>
              </a:rPr>
              <a:t>Visualisation</a:t>
            </a:r>
            <a:r>
              <a:rPr sz="1600" spc="2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→</a:t>
            </a:r>
            <a:r>
              <a:rPr sz="1600" spc="3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Matplotlib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Seaborn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charts</a:t>
            </a:r>
            <a:endParaRPr sz="1600">
              <a:latin typeface="Calibri"/>
              <a:cs typeface="Calibri"/>
            </a:endParaRPr>
          </a:p>
          <a:p>
            <a:pPr marL="257810" indent="-245110">
              <a:lnSpc>
                <a:spcPct val="100000"/>
              </a:lnSpc>
              <a:buAutoNum type="arabicPeriod"/>
              <a:tabLst>
                <a:tab pos="257810" algn="l"/>
              </a:tabLst>
            </a:pPr>
            <a:r>
              <a:rPr sz="1600" dirty="0">
                <a:latin typeface="Calibri"/>
                <a:cs typeface="Calibri"/>
              </a:rPr>
              <a:t>Prediction</a:t>
            </a:r>
            <a:r>
              <a:rPr sz="1600" spc="2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→</a:t>
            </a:r>
            <a:r>
              <a:rPr sz="1600" spc="3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Scikit-learn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Linear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Regression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prediction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86360" marR="5080">
              <a:lnSpc>
                <a:spcPts val="3700"/>
              </a:lnSpc>
              <a:spcBef>
                <a:spcPts val="340"/>
              </a:spcBef>
            </a:pPr>
            <a:r>
              <a:rPr dirty="0"/>
              <a:t>Prototype/Project</a:t>
            </a:r>
            <a:r>
              <a:rPr spc="-229" dirty="0"/>
              <a:t> </a:t>
            </a:r>
            <a:r>
              <a:rPr spc="-20" dirty="0"/>
              <a:t>Flow </a:t>
            </a:r>
            <a:r>
              <a:rPr spc="-10" dirty="0"/>
              <a:t>diagram/Architecture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4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2"/>
                </a:lnTo>
                <a:lnTo>
                  <a:pt x="9144000" y="254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218057"/>
            <a:ext cx="34842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Project</a:t>
            </a:r>
            <a:r>
              <a:rPr sz="1800" b="1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Architecture</a:t>
            </a:r>
            <a:r>
              <a:rPr sz="18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/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Flow</a:t>
            </a:r>
            <a:r>
              <a:rPr sz="18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Diagram: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670305" y="2513838"/>
            <a:ext cx="1201420" cy="607060"/>
            <a:chOff x="670305" y="2513838"/>
            <a:chExt cx="1201420" cy="607060"/>
          </a:xfrm>
        </p:grpSpPr>
        <p:sp>
          <p:nvSpPr>
            <p:cNvPr id="7" name="object 7"/>
            <p:cNvSpPr/>
            <p:nvPr/>
          </p:nvSpPr>
          <p:spPr>
            <a:xfrm>
              <a:off x="676655" y="2520188"/>
              <a:ext cx="1188720" cy="594360"/>
            </a:xfrm>
            <a:custGeom>
              <a:avLst/>
              <a:gdLst/>
              <a:ahLst/>
              <a:cxnLst/>
              <a:rect l="l" t="t" r="r" b="b"/>
              <a:pathLst>
                <a:path w="1188720" h="594360">
                  <a:moveTo>
                    <a:pt x="1143000" y="0"/>
                  </a:moveTo>
                  <a:lnTo>
                    <a:pt x="45707" y="0"/>
                  </a:lnTo>
                  <a:lnTo>
                    <a:pt x="27914" y="3589"/>
                  </a:lnTo>
                  <a:lnTo>
                    <a:pt x="13385" y="13382"/>
                  </a:lnTo>
                  <a:lnTo>
                    <a:pt x="3591" y="27914"/>
                  </a:lnTo>
                  <a:lnTo>
                    <a:pt x="0" y="45720"/>
                  </a:lnTo>
                  <a:lnTo>
                    <a:pt x="0" y="548639"/>
                  </a:lnTo>
                  <a:lnTo>
                    <a:pt x="3591" y="566445"/>
                  </a:lnTo>
                  <a:lnTo>
                    <a:pt x="13385" y="580977"/>
                  </a:lnTo>
                  <a:lnTo>
                    <a:pt x="27914" y="590770"/>
                  </a:lnTo>
                  <a:lnTo>
                    <a:pt x="45707" y="594360"/>
                  </a:lnTo>
                  <a:lnTo>
                    <a:pt x="1143000" y="594360"/>
                  </a:lnTo>
                  <a:lnTo>
                    <a:pt x="1160805" y="590770"/>
                  </a:lnTo>
                  <a:lnTo>
                    <a:pt x="1175337" y="580977"/>
                  </a:lnTo>
                  <a:lnTo>
                    <a:pt x="1185130" y="566445"/>
                  </a:lnTo>
                  <a:lnTo>
                    <a:pt x="1188720" y="548639"/>
                  </a:lnTo>
                  <a:lnTo>
                    <a:pt x="1188720" y="45720"/>
                  </a:lnTo>
                  <a:lnTo>
                    <a:pt x="1185130" y="27914"/>
                  </a:lnTo>
                  <a:lnTo>
                    <a:pt x="1175337" y="13382"/>
                  </a:lnTo>
                  <a:lnTo>
                    <a:pt x="1160805" y="3589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76655" y="2520188"/>
              <a:ext cx="1188720" cy="594360"/>
            </a:xfrm>
            <a:custGeom>
              <a:avLst/>
              <a:gdLst/>
              <a:ahLst/>
              <a:cxnLst/>
              <a:rect l="l" t="t" r="r" b="b"/>
              <a:pathLst>
                <a:path w="1188720" h="594360">
                  <a:moveTo>
                    <a:pt x="45707" y="0"/>
                  </a:moveTo>
                  <a:lnTo>
                    <a:pt x="27914" y="3589"/>
                  </a:lnTo>
                  <a:lnTo>
                    <a:pt x="13385" y="13382"/>
                  </a:lnTo>
                  <a:lnTo>
                    <a:pt x="3591" y="27914"/>
                  </a:lnTo>
                  <a:lnTo>
                    <a:pt x="0" y="45720"/>
                  </a:lnTo>
                  <a:lnTo>
                    <a:pt x="0" y="548639"/>
                  </a:lnTo>
                  <a:lnTo>
                    <a:pt x="3591" y="566445"/>
                  </a:lnTo>
                  <a:lnTo>
                    <a:pt x="13385" y="580977"/>
                  </a:lnTo>
                  <a:lnTo>
                    <a:pt x="27914" y="590770"/>
                  </a:lnTo>
                  <a:lnTo>
                    <a:pt x="45707" y="594360"/>
                  </a:lnTo>
                  <a:lnTo>
                    <a:pt x="1143000" y="594360"/>
                  </a:lnTo>
                  <a:lnTo>
                    <a:pt x="1160805" y="590770"/>
                  </a:lnTo>
                  <a:lnTo>
                    <a:pt x="1175337" y="580977"/>
                  </a:lnTo>
                  <a:lnTo>
                    <a:pt x="1185130" y="566445"/>
                  </a:lnTo>
                  <a:lnTo>
                    <a:pt x="1188720" y="548639"/>
                  </a:lnTo>
                  <a:lnTo>
                    <a:pt x="1188720" y="45720"/>
                  </a:lnTo>
                  <a:lnTo>
                    <a:pt x="1185130" y="27914"/>
                  </a:lnTo>
                  <a:lnTo>
                    <a:pt x="1175337" y="13382"/>
                  </a:lnTo>
                  <a:lnTo>
                    <a:pt x="1160805" y="3589"/>
                  </a:lnTo>
                  <a:lnTo>
                    <a:pt x="1143000" y="0"/>
                  </a:lnTo>
                  <a:lnTo>
                    <a:pt x="45707" y="0"/>
                  </a:lnTo>
                  <a:close/>
                </a:path>
              </a:pathLst>
            </a:custGeom>
            <a:ln w="12701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84802" y="2713736"/>
            <a:ext cx="117284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1145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Raw</a:t>
            </a: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865376" y="2513838"/>
            <a:ext cx="1360170" cy="607060"/>
            <a:chOff x="1865376" y="2513838"/>
            <a:chExt cx="1360170" cy="607060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65376" y="2761996"/>
              <a:ext cx="164592" cy="11061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029968" y="2520188"/>
              <a:ext cx="1188720" cy="594360"/>
            </a:xfrm>
            <a:custGeom>
              <a:avLst/>
              <a:gdLst/>
              <a:ahLst/>
              <a:cxnLst/>
              <a:rect l="l" t="t" r="r" b="b"/>
              <a:pathLst>
                <a:path w="1188720" h="594360">
                  <a:moveTo>
                    <a:pt x="1143000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548639"/>
                  </a:lnTo>
                  <a:lnTo>
                    <a:pt x="3589" y="566445"/>
                  </a:lnTo>
                  <a:lnTo>
                    <a:pt x="13382" y="580977"/>
                  </a:lnTo>
                  <a:lnTo>
                    <a:pt x="27914" y="590770"/>
                  </a:lnTo>
                  <a:lnTo>
                    <a:pt x="45719" y="594360"/>
                  </a:lnTo>
                  <a:lnTo>
                    <a:pt x="1143000" y="594360"/>
                  </a:lnTo>
                  <a:lnTo>
                    <a:pt x="1160805" y="590770"/>
                  </a:lnTo>
                  <a:lnTo>
                    <a:pt x="1175337" y="580977"/>
                  </a:lnTo>
                  <a:lnTo>
                    <a:pt x="1185130" y="566445"/>
                  </a:lnTo>
                  <a:lnTo>
                    <a:pt x="1188720" y="548639"/>
                  </a:lnTo>
                  <a:lnTo>
                    <a:pt x="1188720" y="45720"/>
                  </a:lnTo>
                  <a:lnTo>
                    <a:pt x="1185130" y="27914"/>
                  </a:lnTo>
                  <a:lnTo>
                    <a:pt x="1175337" y="13382"/>
                  </a:lnTo>
                  <a:lnTo>
                    <a:pt x="1160805" y="3589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029968" y="2520188"/>
              <a:ext cx="1188720" cy="594360"/>
            </a:xfrm>
            <a:custGeom>
              <a:avLst/>
              <a:gdLst/>
              <a:ahLst/>
              <a:cxnLst/>
              <a:rect l="l" t="t" r="r" b="b"/>
              <a:pathLst>
                <a:path w="1188720" h="594360">
                  <a:moveTo>
                    <a:pt x="45719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548639"/>
                  </a:lnTo>
                  <a:lnTo>
                    <a:pt x="3589" y="566445"/>
                  </a:lnTo>
                  <a:lnTo>
                    <a:pt x="13382" y="580977"/>
                  </a:lnTo>
                  <a:lnTo>
                    <a:pt x="27914" y="590770"/>
                  </a:lnTo>
                  <a:lnTo>
                    <a:pt x="45719" y="594360"/>
                  </a:lnTo>
                  <a:lnTo>
                    <a:pt x="1143000" y="594360"/>
                  </a:lnTo>
                  <a:lnTo>
                    <a:pt x="1160805" y="590770"/>
                  </a:lnTo>
                  <a:lnTo>
                    <a:pt x="1175337" y="580977"/>
                  </a:lnTo>
                  <a:lnTo>
                    <a:pt x="1185130" y="566445"/>
                  </a:lnTo>
                  <a:lnTo>
                    <a:pt x="1188720" y="548639"/>
                  </a:lnTo>
                  <a:lnTo>
                    <a:pt x="1188720" y="45720"/>
                  </a:lnTo>
                  <a:lnTo>
                    <a:pt x="1185130" y="27914"/>
                  </a:lnTo>
                  <a:lnTo>
                    <a:pt x="1175337" y="13382"/>
                  </a:lnTo>
                  <a:lnTo>
                    <a:pt x="1160805" y="3589"/>
                  </a:lnTo>
                  <a:lnTo>
                    <a:pt x="1143000" y="0"/>
                  </a:lnTo>
                  <a:lnTo>
                    <a:pt x="45719" y="0"/>
                  </a:lnTo>
                  <a:close/>
                </a:path>
              </a:pathLst>
            </a:custGeom>
            <a:ln w="12701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038113" y="2629916"/>
            <a:ext cx="117284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9560" marR="283210" indent="144780">
              <a:lnSpc>
                <a:spcPct val="100000"/>
              </a:lnSpc>
              <a:spcBef>
                <a:spcPts val="105"/>
              </a:spcBef>
            </a:pPr>
            <a:r>
              <a:rPr sz="1100" b="1" spc="-20" dirty="0">
                <a:solidFill>
                  <a:srgbClr val="FFFFFF"/>
                </a:solidFill>
                <a:latin typeface="Arial"/>
                <a:cs typeface="Arial"/>
              </a:rPr>
              <a:t>Data </a:t>
            </a: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Cleaning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218688" y="2513838"/>
            <a:ext cx="1360170" cy="607060"/>
            <a:chOff x="3218688" y="2513838"/>
            <a:chExt cx="1360170" cy="60706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18688" y="2761996"/>
              <a:ext cx="164591" cy="11061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383280" y="2520188"/>
              <a:ext cx="1188720" cy="594360"/>
            </a:xfrm>
            <a:custGeom>
              <a:avLst/>
              <a:gdLst/>
              <a:ahLst/>
              <a:cxnLst/>
              <a:rect l="l" t="t" r="r" b="b"/>
              <a:pathLst>
                <a:path w="1188720" h="594360">
                  <a:moveTo>
                    <a:pt x="1143000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548639"/>
                  </a:lnTo>
                  <a:lnTo>
                    <a:pt x="3589" y="566445"/>
                  </a:lnTo>
                  <a:lnTo>
                    <a:pt x="13382" y="580977"/>
                  </a:lnTo>
                  <a:lnTo>
                    <a:pt x="27914" y="590770"/>
                  </a:lnTo>
                  <a:lnTo>
                    <a:pt x="45720" y="594360"/>
                  </a:lnTo>
                  <a:lnTo>
                    <a:pt x="1143000" y="594360"/>
                  </a:lnTo>
                  <a:lnTo>
                    <a:pt x="1160805" y="590770"/>
                  </a:lnTo>
                  <a:lnTo>
                    <a:pt x="1175337" y="580977"/>
                  </a:lnTo>
                  <a:lnTo>
                    <a:pt x="1185130" y="566445"/>
                  </a:lnTo>
                  <a:lnTo>
                    <a:pt x="1188720" y="548639"/>
                  </a:lnTo>
                  <a:lnTo>
                    <a:pt x="1188720" y="45720"/>
                  </a:lnTo>
                  <a:lnTo>
                    <a:pt x="1185130" y="27914"/>
                  </a:lnTo>
                  <a:lnTo>
                    <a:pt x="1175337" y="13382"/>
                  </a:lnTo>
                  <a:lnTo>
                    <a:pt x="1160805" y="3589"/>
                  </a:lnTo>
                  <a:lnTo>
                    <a:pt x="1143000" y="0"/>
                  </a:lnTo>
                  <a:close/>
                </a:path>
              </a:pathLst>
            </a:custGeom>
            <a:solidFill>
              <a:srgbClr val="2D75B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383280" y="2520188"/>
              <a:ext cx="1188720" cy="594360"/>
            </a:xfrm>
            <a:custGeom>
              <a:avLst/>
              <a:gdLst/>
              <a:ahLst/>
              <a:cxnLst/>
              <a:rect l="l" t="t" r="r" b="b"/>
              <a:pathLst>
                <a:path w="1188720" h="594360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548639"/>
                  </a:lnTo>
                  <a:lnTo>
                    <a:pt x="3589" y="566445"/>
                  </a:lnTo>
                  <a:lnTo>
                    <a:pt x="13382" y="580977"/>
                  </a:lnTo>
                  <a:lnTo>
                    <a:pt x="27914" y="590770"/>
                  </a:lnTo>
                  <a:lnTo>
                    <a:pt x="45720" y="594360"/>
                  </a:lnTo>
                  <a:lnTo>
                    <a:pt x="1143000" y="594360"/>
                  </a:lnTo>
                  <a:lnTo>
                    <a:pt x="1160805" y="590770"/>
                  </a:lnTo>
                  <a:lnTo>
                    <a:pt x="1175337" y="580977"/>
                  </a:lnTo>
                  <a:lnTo>
                    <a:pt x="1185130" y="566445"/>
                  </a:lnTo>
                  <a:lnTo>
                    <a:pt x="1188720" y="548639"/>
                  </a:lnTo>
                  <a:lnTo>
                    <a:pt x="1188720" y="45720"/>
                  </a:lnTo>
                  <a:lnTo>
                    <a:pt x="1185130" y="27914"/>
                  </a:lnTo>
                  <a:lnTo>
                    <a:pt x="1175337" y="13382"/>
                  </a:lnTo>
                  <a:lnTo>
                    <a:pt x="1160805" y="3589"/>
                  </a:lnTo>
                  <a:lnTo>
                    <a:pt x="1143000" y="0"/>
                  </a:lnTo>
                  <a:lnTo>
                    <a:pt x="45720" y="0"/>
                  </a:lnTo>
                  <a:close/>
                </a:path>
              </a:pathLst>
            </a:custGeom>
            <a:ln w="12701">
              <a:solidFill>
                <a:srgbClr val="2D75B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391425" y="2713736"/>
            <a:ext cx="117284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" algn="ctr">
              <a:lnSpc>
                <a:spcPct val="100000"/>
              </a:lnSpc>
              <a:spcBef>
                <a:spcPts val="105"/>
              </a:spcBef>
            </a:pPr>
            <a:r>
              <a:rPr sz="1100" b="1" spc="-25" dirty="0">
                <a:solidFill>
                  <a:srgbClr val="FFFFFF"/>
                </a:solidFill>
                <a:latin typeface="Arial"/>
                <a:cs typeface="Arial"/>
              </a:rPr>
              <a:t>EDA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72000" y="2513838"/>
            <a:ext cx="1543050" cy="607060"/>
            <a:chOff x="4572000" y="2513838"/>
            <a:chExt cx="1543050" cy="60706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2000" y="2761996"/>
              <a:ext cx="164591" cy="110616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736592" y="2520188"/>
              <a:ext cx="1371600" cy="594360"/>
            </a:xfrm>
            <a:custGeom>
              <a:avLst/>
              <a:gdLst/>
              <a:ahLst/>
              <a:cxnLst/>
              <a:rect l="l" t="t" r="r" b="b"/>
              <a:pathLst>
                <a:path w="1371600" h="594360">
                  <a:moveTo>
                    <a:pt x="1325880" y="0"/>
                  </a:moveTo>
                  <a:lnTo>
                    <a:pt x="45720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548639"/>
                  </a:lnTo>
                  <a:lnTo>
                    <a:pt x="3589" y="566445"/>
                  </a:lnTo>
                  <a:lnTo>
                    <a:pt x="13382" y="580977"/>
                  </a:lnTo>
                  <a:lnTo>
                    <a:pt x="27914" y="590770"/>
                  </a:lnTo>
                  <a:lnTo>
                    <a:pt x="45720" y="594360"/>
                  </a:lnTo>
                  <a:lnTo>
                    <a:pt x="1325880" y="594360"/>
                  </a:lnTo>
                  <a:lnTo>
                    <a:pt x="1343685" y="590770"/>
                  </a:lnTo>
                  <a:lnTo>
                    <a:pt x="1358217" y="580977"/>
                  </a:lnTo>
                  <a:lnTo>
                    <a:pt x="1368010" y="566445"/>
                  </a:lnTo>
                  <a:lnTo>
                    <a:pt x="1371600" y="548639"/>
                  </a:lnTo>
                  <a:lnTo>
                    <a:pt x="1371600" y="45720"/>
                  </a:lnTo>
                  <a:lnTo>
                    <a:pt x="1368010" y="27914"/>
                  </a:lnTo>
                  <a:lnTo>
                    <a:pt x="1358217" y="13382"/>
                  </a:lnTo>
                  <a:lnTo>
                    <a:pt x="1343685" y="3589"/>
                  </a:lnTo>
                  <a:lnTo>
                    <a:pt x="1325880" y="0"/>
                  </a:lnTo>
                  <a:close/>
                </a:path>
              </a:pathLst>
            </a:custGeom>
            <a:solidFill>
              <a:srgbClr val="3CA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736592" y="2520188"/>
              <a:ext cx="1371600" cy="594360"/>
            </a:xfrm>
            <a:custGeom>
              <a:avLst/>
              <a:gdLst/>
              <a:ahLst/>
              <a:cxnLst/>
              <a:rect l="l" t="t" r="r" b="b"/>
              <a:pathLst>
                <a:path w="1371600" h="594360">
                  <a:moveTo>
                    <a:pt x="45720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548639"/>
                  </a:lnTo>
                  <a:lnTo>
                    <a:pt x="3589" y="566445"/>
                  </a:lnTo>
                  <a:lnTo>
                    <a:pt x="13382" y="580977"/>
                  </a:lnTo>
                  <a:lnTo>
                    <a:pt x="27914" y="590770"/>
                  </a:lnTo>
                  <a:lnTo>
                    <a:pt x="45720" y="594360"/>
                  </a:lnTo>
                  <a:lnTo>
                    <a:pt x="1325880" y="594360"/>
                  </a:lnTo>
                  <a:lnTo>
                    <a:pt x="1343685" y="590770"/>
                  </a:lnTo>
                  <a:lnTo>
                    <a:pt x="1358217" y="580977"/>
                  </a:lnTo>
                  <a:lnTo>
                    <a:pt x="1368010" y="566445"/>
                  </a:lnTo>
                  <a:lnTo>
                    <a:pt x="1371600" y="548639"/>
                  </a:lnTo>
                  <a:lnTo>
                    <a:pt x="1371600" y="45720"/>
                  </a:lnTo>
                  <a:lnTo>
                    <a:pt x="1368010" y="27914"/>
                  </a:lnTo>
                  <a:lnTo>
                    <a:pt x="1358217" y="13382"/>
                  </a:lnTo>
                  <a:lnTo>
                    <a:pt x="1343685" y="3589"/>
                  </a:lnTo>
                  <a:lnTo>
                    <a:pt x="1325880" y="0"/>
                  </a:lnTo>
                  <a:lnTo>
                    <a:pt x="45720" y="0"/>
                  </a:lnTo>
                  <a:close/>
                </a:path>
              </a:pathLst>
            </a:custGeom>
            <a:ln w="12701">
              <a:solidFill>
                <a:srgbClr val="3CAA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744737" y="2713736"/>
            <a:ext cx="135572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5745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Visualisation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108191" y="2513838"/>
            <a:ext cx="1360170" cy="607060"/>
            <a:chOff x="6108191" y="2513838"/>
            <a:chExt cx="1360170" cy="607060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08191" y="2761996"/>
              <a:ext cx="164592" cy="11061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272783" y="2520188"/>
              <a:ext cx="1188720" cy="594360"/>
            </a:xfrm>
            <a:custGeom>
              <a:avLst/>
              <a:gdLst/>
              <a:ahLst/>
              <a:cxnLst/>
              <a:rect l="l" t="t" r="r" b="b"/>
              <a:pathLst>
                <a:path w="1188720" h="594360">
                  <a:moveTo>
                    <a:pt x="1142999" y="0"/>
                  </a:moveTo>
                  <a:lnTo>
                    <a:pt x="45719" y="0"/>
                  </a:ln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548639"/>
                  </a:lnTo>
                  <a:lnTo>
                    <a:pt x="3589" y="566445"/>
                  </a:lnTo>
                  <a:lnTo>
                    <a:pt x="13382" y="580977"/>
                  </a:lnTo>
                  <a:lnTo>
                    <a:pt x="27914" y="590770"/>
                  </a:lnTo>
                  <a:lnTo>
                    <a:pt x="45719" y="594360"/>
                  </a:lnTo>
                  <a:lnTo>
                    <a:pt x="1142999" y="594360"/>
                  </a:lnTo>
                  <a:lnTo>
                    <a:pt x="1160805" y="590770"/>
                  </a:lnTo>
                  <a:lnTo>
                    <a:pt x="1175337" y="580977"/>
                  </a:lnTo>
                  <a:lnTo>
                    <a:pt x="1185130" y="566445"/>
                  </a:lnTo>
                  <a:lnTo>
                    <a:pt x="1188719" y="548639"/>
                  </a:lnTo>
                  <a:lnTo>
                    <a:pt x="1188719" y="45720"/>
                  </a:lnTo>
                  <a:lnTo>
                    <a:pt x="1185130" y="27914"/>
                  </a:lnTo>
                  <a:lnTo>
                    <a:pt x="1175337" y="13382"/>
                  </a:lnTo>
                  <a:lnTo>
                    <a:pt x="1160805" y="3589"/>
                  </a:lnTo>
                  <a:lnTo>
                    <a:pt x="1142999" y="0"/>
                  </a:lnTo>
                  <a:close/>
                </a:path>
              </a:pathLst>
            </a:custGeom>
            <a:solidFill>
              <a:srgbClr val="3CA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272783" y="2520188"/>
              <a:ext cx="1188720" cy="594360"/>
            </a:xfrm>
            <a:custGeom>
              <a:avLst/>
              <a:gdLst/>
              <a:ahLst/>
              <a:cxnLst/>
              <a:rect l="l" t="t" r="r" b="b"/>
              <a:pathLst>
                <a:path w="1188720" h="594360">
                  <a:moveTo>
                    <a:pt x="45719" y="0"/>
                  </a:moveTo>
                  <a:lnTo>
                    <a:pt x="27914" y="3589"/>
                  </a:lnTo>
                  <a:lnTo>
                    <a:pt x="13382" y="13382"/>
                  </a:lnTo>
                  <a:lnTo>
                    <a:pt x="3589" y="27914"/>
                  </a:lnTo>
                  <a:lnTo>
                    <a:pt x="0" y="45720"/>
                  </a:lnTo>
                  <a:lnTo>
                    <a:pt x="0" y="548639"/>
                  </a:lnTo>
                  <a:lnTo>
                    <a:pt x="3589" y="566445"/>
                  </a:lnTo>
                  <a:lnTo>
                    <a:pt x="13382" y="580977"/>
                  </a:lnTo>
                  <a:lnTo>
                    <a:pt x="27914" y="590770"/>
                  </a:lnTo>
                  <a:lnTo>
                    <a:pt x="45719" y="594360"/>
                  </a:lnTo>
                  <a:lnTo>
                    <a:pt x="1142999" y="594360"/>
                  </a:lnTo>
                  <a:lnTo>
                    <a:pt x="1160805" y="590770"/>
                  </a:lnTo>
                  <a:lnTo>
                    <a:pt x="1175337" y="580977"/>
                  </a:lnTo>
                  <a:lnTo>
                    <a:pt x="1185130" y="566445"/>
                  </a:lnTo>
                  <a:lnTo>
                    <a:pt x="1188719" y="548639"/>
                  </a:lnTo>
                  <a:lnTo>
                    <a:pt x="1188719" y="45720"/>
                  </a:lnTo>
                  <a:lnTo>
                    <a:pt x="1185130" y="27914"/>
                  </a:lnTo>
                  <a:lnTo>
                    <a:pt x="1175337" y="13382"/>
                  </a:lnTo>
                  <a:lnTo>
                    <a:pt x="1160805" y="3589"/>
                  </a:lnTo>
                  <a:lnTo>
                    <a:pt x="1142999" y="0"/>
                  </a:lnTo>
                  <a:lnTo>
                    <a:pt x="45719" y="0"/>
                  </a:lnTo>
                  <a:close/>
                </a:path>
              </a:pathLst>
            </a:custGeom>
            <a:ln w="12701">
              <a:solidFill>
                <a:srgbClr val="3CAA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280929" y="2713736"/>
            <a:ext cx="117284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175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FFFFFF"/>
                </a:solidFill>
                <a:latin typeface="Arial"/>
                <a:cs typeface="Arial"/>
              </a:rPr>
              <a:t>Insights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09690" y="2507486"/>
            <a:ext cx="3582670" cy="1031240"/>
            <a:chOff x="5409690" y="2507486"/>
            <a:chExt cx="3582670" cy="1031240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61504" y="2761995"/>
              <a:ext cx="164592" cy="11061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5422391" y="3114547"/>
              <a:ext cx="2981325" cy="411480"/>
            </a:xfrm>
            <a:custGeom>
              <a:avLst/>
              <a:gdLst/>
              <a:ahLst/>
              <a:cxnLst/>
              <a:rect l="l" t="t" r="r" b="b"/>
              <a:pathLst>
                <a:path w="2981325" h="411479">
                  <a:moveTo>
                    <a:pt x="0" y="0"/>
                  </a:moveTo>
                  <a:lnTo>
                    <a:pt x="0" y="411479"/>
                  </a:lnTo>
                </a:path>
                <a:path w="2981325" h="411479">
                  <a:moveTo>
                    <a:pt x="0" y="411479"/>
                  </a:moveTo>
                  <a:lnTo>
                    <a:pt x="2980943" y="411479"/>
                  </a:lnTo>
                </a:path>
              </a:pathLst>
            </a:custGeom>
            <a:ln w="25402">
              <a:solidFill>
                <a:srgbClr val="3CAA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344407" y="3132835"/>
              <a:ext cx="118110" cy="393700"/>
            </a:xfrm>
            <a:custGeom>
              <a:avLst/>
              <a:gdLst/>
              <a:ahLst/>
              <a:cxnLst/>
              <a:rect l="l" t="t" r="r" b="b"/>
              <a:pathLst>
                <a:path w="118109" h="393700">
                  <a:moveTo>
                    <a:pt x="14097" y="277240"/>
                  </a:moveTo>
                  <a:lnTo>
                    <a:pt x="8127" y="280797"/>
                  </a:lnTo>
                  <a:lnTo>
                    <a:pt x="2032" y="284352"/>
                  </a:lnTo>
                  <a:lnTo>
                    <a:pt x="0" y="292100"/>
                  </a:lnTo>
                  <a:lnTo>
                    <a:pt x="58927" y="393191"/>
                  </a:lnTo>
                  <a:lnTo>
                    <a:pt x="73585" y="368046"/>
                  </a:lnTo>
                  <a:lnTo>
                    <a:pt x="46227" y="368046"/>
                  </a:lnTo>
                  <a:lnTo>
                    <a:pt x="46227" y="321074"/>
                  </a:lnTo>
                  <a:lnTo>
                    <a:pt x="25400" y="285368"/>
                  </a:lnTo>
                  <a:lnTo>
                    <a:pt x="21971" y="279400"/>
                  </a:lnTo>
                  <a:lnTo>
                    <a:pt x="14097" y="277240"/>
                  </a:lnTo>
                  <a:close/>
                </a:path>
                <a:path w="118109" h="393700">
                  <a:moveTo>
                    <a:pt x="46228" y="321074"/>
                  </a:moveTo>
                  <a:lnTo>
                    <a:pt x="46227" y="368046"/>
                  </a:lnTo>
                  <a:lnTo>
                    <a:pt x="71627" y="368046"/>
                  </a:lnTo>
                  <a:lnTo>
                    <a:pt x="71627" y="361568"/>
                  </a:lnTo>
                  <a:lnTo>
                    <a:pt x="48006" y="361568"/>
                  </a:lnTo>
                  <a:lnTo>
                    <a:pt x="58928" y="342845"/>
                  </a:lnTo>
                  <a:lnTo>
                    <a:pt x="46228" y="321074"/>
                  </a:lnTo>
                  <a:close/>
                </a:path>
                <a:path w="118109" h="393700">
                  <a:moveTo>
                    <a:pt x="103759" y="277240"/>
                  </a:moveTo>
                  <a:lnTo>
                    <a:pt x="95885" y="279400"/>
                  </a:lnTo>
                  <a:lnTo>
                    <a:pt x="92456" y="285368"/>
                  </a:lnTo>
                  <a:lnTo>
                    <a:pt x="71627" y="321074"/>
                  </a:lnTo>
                  <a:lnTo>
                    <a:pt x="71627" y="368046"/>
                  </a:lnTo>
                  <a:lnTo>
                    <a:pt x="73585" y="368046"/>
                  </a:lnTo>
                  <a:lnTo>
                    <a:pt x="117856" y="292100"/>
                  </a:lnTo>
                  <a:lnTo>
                    <a:pt x="115824" y="284352"/>
                  </a:lnTo>
                  <a:lnTo>
                    <a:pt x="109727" y="280797"/>
                  </a:lnTo>
                  <a:lnTo>
                    <a:pt x="103759" y="277240"/>
                  </a:lnTo>
                  <a:close/>
                </a:path>
                <a:path w="118109" h="393700">
                  <a:moveTo>
                    <a:pt x="58928" y="342845"/>
                  </a:moveTo>
                  <a:lnTo>
                    <a:pt x="48006" y="361568"/>
                  </a:lnTo>
                  <a:lnTo>
                    <a:pt x="69850" y="361568"/>
                  </a:lnTo>
                  <a:lnTo>
                    <a:pt x="58928" y="342845"/>
                  </a:lnTo>
                  <a:close/>
                </a:path>
                <a:path w="118109" h="393700">
                  <a:moveTo>
                    <a:pt x="71627" y="321074"/>
                  </a:moveTo>
                  <a:lnTo>
                    <a:pt x="58928" y="342845"/>
                  </a:lnTo>
                  <a:lnTo>
                    <a:pt x="69850" y="361568"/>
                  </a:lnTo>
                  <a:lnTo>
                    <a:pt x="71627" y="361568"/>
                  </a:lnTo>
                  <a:lnTo>
                    <a:pt x="71627" y="321074"/>
                  </a:lnTo>
                  <a:close/>
                </a:path>
                <a:path w="118109" h="393700">
                  <a:moveTo>
                    <a:pt x="71627" y="0"/>
                  </a:moveTo>
                  <a:lnTo>
                    <a:pt x="46227" y="0"/>
                  </a:lnTo>
                  <a:lnTo>
                    <a:pt x="46228" y="321074"/>
                  </a:lnTo>
                  <a:lnTo>
                    <a:pt x="58928" y="342845"/>
                  </a:lnTo>
                  <a:lnTo>
                    <a:pt x="71627" y="321074"/>
                  </a:lnTo>
                  <a:lnTo>
                    <a:pt x="71627" y="0"/>
                  </a:lnTo>
                  <a:close/>
                </a:path>
              </a:pathLst>
            </a:custGeom>
            <a:solidFill>
              <a:srgbClr val="3CAA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7626095" y="2520187"/>
              <a:ext cx="1353820" cy="641350"/>
            </a:xfrm>
            <a:custGeom>
              <a:avLst/>
              <a:gdLst/>
              <a:ahLst/>
              <a:cxnLst/>
              <a:rect l="l" t="t" r="r" b="b"/>
              <a:pathLst>
                <a:path w="1353820" h="641350">
                  <a:moveTo>
                    <a:pt x="1246504" y="0"/>
                  </a:moveTo>
                  <a:lnTo>
                    <a:pt x="106806" y="0"/>
                  </a:lnTo>
                  <a:lnTo>
                    <a:pt x="65258" y="8401"/>
                  </a:lnTo>
                  <a:lnTo>
                    <a:pt x="31305" y="31305"/>
                  </a:lnTo>
                  <a:lnTo>
                    <a:pt x="8401" y="65258"/>
                  </a:lnTo>
                  <a:lnTo>
                    <a:pt x="0" y="106807"/>
                  </a:lnTo>
                  <a:lnTo>
                    <a:pt x="0" y="534288"/>
                  </a:lnTo>
                  <a:lnTo>
                    <a:pt x="8401" y="575911"/>
                  </a:lnTo>
                  <a:lnTo>
                    <a:pt x="31305" y="609901"/>
                  </a:lnTo>
                  <a:lnTo>
                    <a:pt x="65258" y="632819"/>
                  </a:lnTo>
                  <a:lnTo>
                    <a:pt x="106806" y="641223"/>
                  </a:lnTo>
                  <a:lnTo>
                    <a:pt x="1246504" y="641223"/>
                  </a:lnTo>
                  <a:lnTo>
                    <a:pt x="1288053" y="632819"/>
                  </a:lnTo>
                  <a:lnTo>
                    <a:pt x="1322006" y="609901"/>
                  </a:lnTo>
                  <a:lnTo>
                    <a:pt x="1344910" y="575911"/>
                  </a:lnTo>
                  <a:lnTo>
                    <a:pt x="1353311" y="534288"/>
                  </a:lnTo>
                  <a:lnTo>
                    <a:pt x="1353311" y="106807"/>
                  </a:lnTo>
                  <a:lnTo>
                    <a:pt x="1344910" y="65258"/>
                  </a:lnTo>
                  <a:lnTo>
                    <a:pt x="1322006" y="31305"/>
                  </a:lnTo>
                  <a:lnTo>
                    <a:pt x="1288053" y="8401"/>
                  </a:lnTo>
                  <a:lnTo>
                    <a:pt x="1246504" y="0"/>
                  </a:lnTo>
                  <a:close/>
                </a:path>
              </a:pathLst>
            </a:custGeom>
            <a:solidFill>
              <a:srgbClr val="E82F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7626095" y="2520187"/>
              <a:ext cx="1353820" cy="641350"/>
            </a:xfrm>
            <a:custGeom>
              <a:avLst/>
              <a:gdLst/>
              <a:ahLst/>
              <a:cxnLst/>
              <a:rect l="l" t="t" r="r" b="b"/>
              <a:pathLst>
                <a:path w="1353820" h="641350">
                  <a:moveTo>
                    <a:pt x="106806" y="0"/>
                  </a:moveTo>
                  <a:lnTo>
                    <a:pt x="65258" y="8401"/>
                  </a:lnTo>
                  <a:lnTo>
                    <a:pt x="31305" y="31305"/>
                  </a:lnTo>
                  <a:lnTo>
                    <a:pt x="8401" y="65258"/>
                  </a:lnTo>
                  <a:lnTo>
                    <a:pt x="0" y="106807"/>
                  </a:lnTo>
                  <a:lnTo>
                    <a:pt x="0" y="534288"/>
                  </a:lnTo>
                  <a:lnTo>
                    <a:pt x="8401" y="575911"/>
                  </a:lnTo>
                  <a:lnTo>
                    <a:pt x="31305" y="609901"/>
                  </a:lnTo>
                  <a:lnTo>
                    <a:pt x="65258" y="632819"/>
                  </a:lnTo>
                  <a:lnTo>
                    <a:pt x="106806" y="641223"/>
                  </a:lnTo>
                  <a:lnTo>
                    <a:pt x="1246504" y="641223"/>
                  </a:lnTo>
                  <a:lnTo>
                    <a:pt x="1288053" y="632819"/>
                  </a:lnTo>
                  <a:lnTo>
                    <a:pt x="1322006" y="609901"/>
                  </a:lnTo>
                  <a:lnTo>
                    <a:pt x="1344910" y="575911"/>
                  </a:lnTo>
                  <a:lnTo>
                    <a:pt x="1353311" y="534288"/>
                  </a:lnTo>
                  <a:lnTo>
                    <a:pt x="1353311" y="106807"/>
                  </a:lnTo>
                  <a:lnTo>
                    <a:pt x="1344910" y="65258"/>
                  </a:lnTo>
                  <a:lnTo>
                    <a:pt x="1322006" y="31305"/>
                  </a:lnTo>
                  <a:lnTo>
                    <a:pt x="1288053" y="8401"/>
                  </a:lnTo>
                  <a:lnTo>
                    <a:pt x="1246504" y="0"/>
                  </a:lnTo>
                  <a:lnTo>
                    <a:pt x="106806" y="0"/>
                  </a:lnTo>
                  <a:close/>
                </a:path>
              </a:pathLst>
            </a:custGeom>
            <a:ln w="25402">
              <a:solidFill>
                <a:srgbClr val="1C334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756397" y="2609214"/>
            <a:ext cx="1093470" cy="4483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1660"/>
              </a:lnSpc>
              <a:spcBef>
                <a:spcPts val="105"/>
              </a:spcBef>
            </a:pPr>
            <a:r>
              <a:rPr sz="1400" b="1" dirty="0">
                <a:solidFill>
                  <a:srgbClr val="FFFFFF"/>
                </a:solidFill>
                <a:latin typeface="Arial"/>
                <a:cs typeface="Arial"/>
              </a:rPr>
              <a:t>Fine</a:t>
            </a:r>
            <a:r>
              <a:rPr sz="14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Arial"/>
                <a:cs typeface="Arial"/>
              </a:rPr>
              <a:t>Prediction</a:t>
            </a:r>
            <a:endParaRPr sz="1050">
              <a:latin typeface="Arial"/>
              <a:cs typeface="Arial"/>
            </a:endParaRPr>
          </a:p>
          <a:p>
            <a:pPr marL="2540" algn="ctr">
              <a:lnSpc>
                <a:spcPts val="1660"/>
              </a:lnSpc>
            </a:pPr>
            <a:r>
              <a:rPr sz="1400" b="1" spc="-10" dirty="0">
                <a:solidFill>
                  <a:srgbClr val="FFFFFF"/>
                </a:solidFill>
                <a:latin typeface="Arial"/>
                <a:cs typeface="Arial"/>
              </a:rPr>
              <a:t>Model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ts val="3700"/>
              </a:lnSpc>
              <a:spcBef>
                <a:spcPts val="340"/>
              </a:spcBef>
            </a:pPr>
            <a:r>
              <a:rPr dirty="0"/>
              <a:t>Prototype/Project</a:t>
            </a:r>
            <a:r>
              <a:rPr spc="-229" dirty="0"/>
              <a:t> </a:t>
            </a:r>
            <a:r>
              <a:rPr spc="-20" dirty="0"/>
              <a:t>Flow </a:t>
            </a:r>
            <a:r>
              <a:rPr spc="-10" dirty="0"/>
              <a:t>diagram/Architecture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4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2"/>
                </a:lnTo>
                <a:lnTo>
                  <a:pt x="9144000" y="254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18540" y="1365884"/>
            <a:ext cx="36747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Dataset</a:t>
            </a:r>
            <a:r>
              <a:rPr sz="1800" b="1" spc="-6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Structure</a:t>
            </a:r>
            <a:r>
              <a:rPr sz="18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(Database</a:t>
            </a:r>
            <a:r>
              <a:rPr sz="1800" b="1" spc="-7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Diagram):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3829" y="1763483"/>
            <a:ext cx="2558288" cy="432981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6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 </a:t>
            </a:r>
            <a:r>
              <a:rPr spc="-10" dirty="0"/>
              <a:t>Timeline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4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2"/>
                </a:lnTo>
                <a:lnTo>
                  <a:pt x="9144000" y="254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3185" y="2489205"/>
            <a:ext cx="484555" cy="3491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5940" y="1218057"/>
            <a:ext cx="3846829" cy="186626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Project</a:t>
            </a:r>
            <a:r>
              <a:rPr sz="1800" b="1" spc="-7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Timeline: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2125"/>
              </a:spcBef>
            </a:pPr>
            <a:r>
              <a:rPr sz="1700" dirty="0">
                <a:latin typeface="Calibri"/>
                <a:cs typeface="Calibri"/>
              </a:rPr>
              <a:t>Week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1</a:t>
            </a:r>
            <a:r>
              <a:rPr sz="1700" spc="3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—</a:t>
            </a:r>
            <a:r>
              <a:rPr sz="1700" spc="3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Dataset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collection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&amp;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generation Week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2</a:t>
            </a:r>
            <a:r>
              <a:rPr sz="1700" spc="3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—</a:t>
            </a:r>
            <a:r>
              <a:rPr sz="1700" spc="3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cleaning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&amp;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preparation </a:t>
            </a:r>
            <a:r>
              <a:rPr sz="1700" dirty="0">
                <a:latin typeface="Calibri"/>
                <a:cs typeface="Calibri"/>
              </a:rPr>
              <a:t>Week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3-</a:t>
            </a:r>
            <a:r>
              <a:rPr sz="1700" dirty="0">
                <a:latin typeface="Calibri"/>
                <a:cs typeface="Calibri"/>
              </a:rPr>
              <a:t>4</a:t>
            </a:r>
            <a:r>
              <a:rPr sz="1700" spc="3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—</a:t>
            </a:r>
            <a:r>
              <a:rPr sz="1700" spc="3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EDA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&amp;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8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visualisations</a:t>
            </a:r>
            <a:endParaRPr sz="1700">
              <a:latin typeface="Calibri"/>
              <a:cs typeface="Calibri"/>
            </a:endParaRPr>
          </a:p>
          <a:p>
            <a:pPr marL="12700" marR="5715">
              <a:lnSpc>
                <a:spcPct val="100000"/>
              </a:lnSpc>
              <a:spcBef>
                <a:spcPts val="5"/>
              </a:spcBef>
            </a:pPr>
            <a:r>
              <a:rPr sz="1700" dirty="0">
                <a:latin typeface="Calibri"/>
                <a:cs typeface="Calibri"/>
              </a:rPr>
              <a:t>Week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5-</a:t>
            </a:r>
            <a:r>
              <a:rPr sz="1700" dirty="0">
                <a:latin typeface="Calibri"/>
                <a:cs typeface="Calibri"/>
              </a:rPr>
              <a:t>6</a:t>
            </a:r>
            <a:r>
              <a:rPr sz="1700" spc="3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—</a:t>
            </a:r>
            <a:r>
              <a:rPr sz="1700" spc="3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ML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model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+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report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writing </a:t>
            </a:r>
            <a:r>
              <a:rPr sz="1700" dirty="0">
                <a:latin typeface="Calibri"/>
                <a:cs typeface="Calibri"/>
              </a:rPr>
              <a:t>Week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7</a:t>
            </a:r>
            <a:r>
              <a:rPr sz="1700" spc="3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—</a:t>
            </a:r>
            <a:r>
              <a:rPr sz="1700" spc="3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PPT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preparation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&amp;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presentation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6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20" dirty="0"/>
              <a:t> </a:t>
            </a:r>
            <a:r>
              <a:rPr dirty="0"/>
              <a:t>Steps</a:t>
            </a:r>
            <a:r>
              <a:rPr spc="-5" dirty="0"/>
              <a:t> </a:t>
            </a:r>
            <a:r>
              <a:rPr dirty="0"/>
              <a:t>and</a:t>
            </a:r>
            <a:r>
              <a:rPr spc="-5" dirty="0"/>
              <a:t> </a:t>
            </a:r>
            <a:r>
              <a:rPr spc="-10" dirty="0"/>
              <a:t>Goals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4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2"/>
                </a:lnTo>
                <a:lnTo>
                  <a:pt x="9144000" y="254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03185" y="2489205"/>
            <a:ext cx="484555" cy="3491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35940" y="1216532"/>
            <a:ext cx="6570345" cy="1913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Next</a:t>
            </a:r>
            <a:r>
              <a:rPr sz="20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Steps</a:t>
            </a:r>
            <a:r>
              <a:rPr sz="20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&amp;</a:t>
            </a:r>
            <a:r>
              <a:rPr sz="2000" b="1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Future</a:t>
            </a:r>
            <a:r>
              <a:rPr sz="20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Goals: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5"/>
              </a:spcBef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Add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real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dataset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from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college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library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(if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accessible)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Build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Streamlit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web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dashboard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display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insights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interactively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spc="-10" dirty="0">
                <a:latin typeface="Calibri"/>
                <a:cs typeface="Calibri"/>
              </a:rPr>
              <a:t>Improve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fine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prediction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model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classification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(Random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Forest)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Expand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analysis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include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semester-</a:t>
            </a:r>
            <a:r>
              <a:rPr sz="1700" dirty="0">
                <a:latin typeface="Calibri"/>
                <a:cs typeface="Calibri"/>
              </a:rPr>
              <a:t>wise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borrowing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comparison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spc="-10" dirty="0">
                <a:latin typeface="Calibri"/>
                <a:cs typeface="Calibri"/>
              </a:rPr>
              <a:t>Automate </a:t>
            </a:r>
            <a:r>
              <a:rPr sz="1700" dirty="0">
                <a:latin typeface="Calibri"/>
                <a:cs typeface="Calibri"/>
              </a:rPr>
              <a:t>report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generation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Python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scripts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6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&amp;</a:t>
            </a:r>
            <a:r>
              <a:rPr spc="-40" dirty="0"/>
              <a:t> </a:t>
            </a:r>
            <a:r>
              <a:rPr spc="-10" dirty="0"/>
              <a:t>Resources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4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2"/>
                </a:lnTo>
                <a:lnTo>
                  <a:pt x="9144000" y="254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218057"/>
            <a:ext cx="6475095" cy="3392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18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6FC0"/>
                </a:solidFill>
                <a:latin typeface="Calibri"/>
                <a:cs typeface="Calibri"/>
              </a:rPr>
              <a:t>&amp;</a:t>
            </a:r>
            <a:r>
              <a:rPr sz="1800" b="1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6FC0"/>
                </a:solidFill>
                <a:latin typeface="Calibri"/>
                <a:cs typeface="Calibri"/>
              </a:rPr>
              <a:t>Resources</a:t>
            </a:r>
            <a:r>
              <a:rPr sz="1800" b="1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006FC0"/>
                </a:solidFill>
                <a:latin typeface="Calibri"/>
                <a:cs typeface="Calibri"/>
              </a:rPr>
              <a:t>Used: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sz="1700" b="1" spc="-10" dirty="0">
                <a:solidFill>
                  <a:srgbClr val="006FC0"/>
                </a:solidFill>
                <a:latin typeface="Calibri"/>
                <a:cs typeface="Calibri"/>
              </a:rPr>
              <a:t>Dataset: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Calibri"/>
                <a:cs typeface="Calibri"/>
              </a:rPr>
              <a:t>Synthetic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—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generated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using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Python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(pandas,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numpy)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1000+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transactions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b="1" spc="-10" dirty="0">
                <a:solidFill>
                  <a:srgbClr val="006FC0"/>
                </a:solidFill>
                <a:latin typeface="Calibri"/>
                <a:cs typeface="Calibri"/>
              </a:rPr>
              <a:t>Tools: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Python,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Pandas,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Matplotlib,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Seaborn,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Scikit-learn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6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b="1" spc="-20" dirty="0">
                <a:solidFill>
                  <a:srgbClr val="006FC0"/>
                </a:solidFill>
                <a:latin typeface="Calibri"/>
                <a:cs typeface="Calibri"/>
              </a:rPr>
              <a:t>IDE: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Jupyter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Notebook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|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Version </a:t>
            </a:r>
            <a:r>
              <a:rPr sz="1600" spc="-10" dirty="0">
                <a:latin typeface="Calibri"/>
                <a:cs typeface="Calibri"/>
              </a:rPr>
              <a:t>Control: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GitHub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700" b="1" spc="-10" dirty="0">
                <a:solidFill>
                  <a:srgbClr val="006FC0"/>
                </a:solidFill>
                <a:latin typeface="Calibri"/>
                <a:cs typeface="Calibri"/>
              </a:rPr>
              <a:t>References:</a:t>
            </a:r>
            <a:endParaRPr sz="17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dirty="0">
                <a:latin typeface="Calibri"/>
                <a:cs typeface="Calibri"/>
              </a:rPr>
              <a:t>IEEE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papers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Library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Analytics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Student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Behaviour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Analysis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3"/>
            <a:ext cx="9085470" cy="6858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20" dirty="0"/>
              <a:t> </a:t>
            </a:r>
            <a:r>
              <a:rPr dirty="0"/>
              <a:t>Use</a:t>
            </a:r>
            <a:r>
              <a:rPr spc="-5" dirty="0"/>
              <a:t> </a:t>
            </a:r>
            <a:r>
              <a:rPr dirty="0"/>
              <a:t>cases</a:t>
            </a:r>
            <a:r>
              <a:rPr spc="-10" dirty="0"/>
              <a:t> </a:t>
            </a:r>
            <a:r>
              <a:rPr dirty="0"/>
              <a:t>&amp;</a:t>
            </a:r>
            <a:r>
              <a:rPr spc="-5" dirty="0"/>
              <a:t> </a:t>
            </a:r>
            <a:r>
              <a:rPr spc="-10" dirty="0"/>
              <a:t>Scope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1048764"/>
            <a:ext cx="9144000" cy="5607685"/>
            <a:chOff x="0" y="1048764"/>
            <a:chExt cx="9144000" cy="5607685"/>
          </a:xfrm>
        </p:grpSpPr>
        <p:sp>
          <p:nvSpPr>
            <p:cNvPr id="5" name="object 5"/>
            <p:cNvSpPr/>
            <p:nvPr/>
          </p:nvSpPr>
          <p:spPr>
            <a:xfrm>
              <a:off x="0" y="1048764"/>
              <a:ext cx="9144000" cy="25400"/>
            </a:xfrm>
            <a:custGeom>
              <a:avLst/>
              <a:gdLst/>
              <a:ahLst/>
              <a:cxnLst/>
              <a:rect l="l" t="t" r="r" b="b"/>
              <a:pathLst>
                <a:path w="9144000" h="25400">
                  <a:moveTo>
                    <a:pt x="9144000" y="0"/>
                  </a:moveTo>
                  <a:lnTo>
                    <a:pt x="0" y="0"/>
                  </a:lnTo>
                  <a:lnTo>
                    <a:pt x="0" y="25402"/>
                  </a:lnTo>
                  <a:lnTo>
                    <a:pt x="9144000" y="25402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05F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009" y="6309321"/>
              <a:ext cx="2411730" cy="34669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535940" y="1216532"/>
            <a:ext cx="7430134" cy="1913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Project</a:t>
            </a:r>
            <a:r>
              <a:rPr sz="2000" b="1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Use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Cases</a:t>
            </a:r>
            <a:r>
              <a:rPr sz="2000" b="1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&amp;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Scope: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5"/>
              </a:spcBef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College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libraries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predict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which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books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stock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more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based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demand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trends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Librarians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identify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students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at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risk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of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fines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before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the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due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20" dirty="0">
                <a:latin typeface="Calibri"/>
                <a:cs typeface="Calibri"/>
              </a:rPr>
              <a:t>date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spc="-10" dirty="0">
                <a:latin typeface="Calibri"/>
                <a:cs typeface="Calibri"/>
              </a:rPr>
              <a:t>Administration</a:t>
            </a:r>
            <a:r>
              <a:rPr sz="1700" spc="-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view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department-</a:t>
            </a:r>
            <a:r>
              <a:rPr sz="1700" dirty="0">
                <a:latin typeface="Calibri"/>
                <a:cs typeface="Calibri"/>
              </a:rPr>
              <a:t>wise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library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usage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reports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Fine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prediction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alerts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can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reduce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overdue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returns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up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25" dirty="0">
                <a:latin typeface="Calibri"/>
                <a:cs typeface="Calibri"/>
              </a:rPr>
              <a:t>30%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Future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scope: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real-</a:t>
            </a:r>
            <a:r>
              <a:rPr sz="1700" dirty="0">
                <a:latin typeface="Calibri"/>
                <a:cs typeface="Calibri"/>
              </a:rPr>
              <a:t>time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dashboard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mobile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app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integration</a:t>
            </a:r>
            <a:endParaRPr sz="1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062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Expected</a:t>
            </a:r>
            <a:r>
              <a:rPr spc="-30" dirty="0"/>
              <a:t> </a:t>
            </a:r>
            <a:r>
              <a:rPr dirty="0"/>
              <a:t>Results</a:t>
            </a:r>
            <a:r>
              <a:rPr spc="-20" dirty="0"/>
              <a:t> </a:t>
            </a:r>
            <a:r>
              <a:rPr dirty="0"/>
              <a:t>&amp;</a:t>
            </a:r>
            <a:r>
              <a:rPr spc="-10" dirty="0"/>
              <a:t> Impact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1048764"/>
            <a:ext cx="9144000" cy="25400"/>
          </a:xfrm>
          <a:custGeom>
            <a:avLst/>
            <a:gdLst/>
            <a:ahLst/>
            <a:cxnLst/>
            <a:rect l="l" t="t" r="r" b="b"/>
            <a:pathLst>
              <a:path w="9144000" h="25400">
                <a:moveTo>
                  <a:pt x="9144000" y="0"/>
                </a:moveTo>
                <a:lnTo>
                  <a:pt x="0" y="0"/>
                </a:lnTo>
                <a:lnTo>
                  <a:pt x="0" y="25402"/>
                </a:lnTo>
                <a:lnTo>
                  <a:pt x="9144000" y="25402"/>
                </a:lnTo>
                <a:lnTo>
                  <a:pt x="9144000" y="0"/>
                </a:lnTo>
                <a:close/>
              </a:path>
            </a:pathLst>
          </a:custGeom>
          <a:solidFill>
            <a:srgbClr val="005FA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216532"/>
            <a:ext cx="6453505" cy="1913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Expected</a:t>
            </a:r>
            <a:r>
              <a:rPr sz="2000" b="1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Results</a:t>
            </a:r>
            <a:r>
              <a:rPr sz="2000" b="1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006FC0"/>
                </a:solidFill>
                <a:latin typeface="Calibri"/>
                <a:cs typeface="Calibri"/>
              </a:rPr>
              <a:t>&amp;</a:t>
            </a:r>
            <a:r>
              <a:rPr sz="2000" b="1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Calibri"/>
                <a:cs typeface="Calibri"/>
              </a:rPr>
              <a:t>Impact: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5"/>
              </a:spcBef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Identify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top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5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most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demanded</a:t>
            </a:r>
            <a:r>
              <a:rPr sz="1700" spc="-3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books</a:t>
            </a:r>
            <a:r>
              <a:rPr sz="1700" spc="-6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genres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across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departments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Reduce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overdue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returns</a:t>
            </a:r>
            <a:r>
              <a:rPr sz="1700" spc="-5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by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30%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using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fine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prediction</a:t>
            </a:r>
            <a:r>
              <a:rPr sz="1700" spc="-2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alerts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spc="-10" dirty="0">
                <a:latin typeface="Calibri"/>
                <a:cs typeface="Calibri"/>
              </a:rPr>
              <a:t>Department-</a:t>
            </a:r>
            <a:r>
              <a:rPr sz="1700" dirty="0">
                <a:latin typeface="Calibri"/>
                <a:cs typeface="Calibri"/>
              </a:rPr>
              <a:t>wise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fine</a:t>
            </a:r>
            <a:r>
              <a:rPr sz="1700" spc="-1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report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helps</a:t>
            </a:r>
            <a:r>
              <a:rPr sz="1700" spc="-3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policy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improvement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dirty="0">
                <a:latin typeface="Calibri"/>
                <a:cs typeface="Calibri"/>
              </a:rPr>
              <a:t>Chatbot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query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analysis</a:t>
            </a:r>
            <a:r>
              <a:rPr sz="1700" spc="-10" dirty="0">
                <a:latin typeface="Calibri"/>
                <a:cs typeface="Calibri"/>
              </a:rPr>
              <a:t> improves</a:t>
            </a:r>
            <a:r>
              <a:rPr sz="1700" spc="-5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automated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response</a:t>
            </a:r>
            <a:r>
              <a:rPr sz="1700" spc="-4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quality</a:t>
            </a:r>
            <a:endParaRPr sz="17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Char char="•"/>
              <a:tabLst>
                <a:tab pos="354965" algn="l"/>
              </a:tabLst>
            </a:pPr>
            <a:r>
              <a:rPr sz="1700" spc="-20" dirty="0">
                <a:latin typeface="Calibri"/>
                <a:cs typeface="Calibri"/>
              </a:rPr>
              <a:t>Data-</a:t>
            </a:r>
            <a:r>
              <a:rPr sz="1700" dirty="0">
                <a:latin typeface="Calibri"/>
                <a:cs typeface="Calibri"/>
              </a:rPr>
              <a:t>driven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decisions</a:t>
            </a:r>
            <a:r>
              <a:rPr sz="1700" spc="-6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on</a:t>
            </a:r>
            <a:r>
              <a:rPr sz="1700" spc="-15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book</a:t>
            </a:r>
            <a:r>
              <a:rPr sz="1700" spc="-25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procurement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and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dirty="0">
                <a:latin typeface="Calibri"/>
                <a:cs typeface="Calibri"/>
              </a:rPr>
              <a:t>student</a:t>
            </a:r>
            <a:r>
              <a:rPr sz="1700" spc="-40" dirty="0">
                <a:latin typeface="Calibri"/>
                <a:cs typeface="Calibri"/>
              </a:rPr>
              <a:t> </a:t>
            </a:r>
            <a:r>
              <a:rPr sz="1700" spc="-10" dirty="0">
                <a:latin typeface="Calibri"/>
                <a:cs typeface="Calibri"/>
              </a:rPr>
              <a:t>engagement</a:t>
            </a:r>
            <a:endParaRPr sz="17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09" y="6309321"/>
            <a:ext cx="2411730" cy="3466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41067" y="2669540"/>
            <a:ext cx="543941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00120" algn="l"/>
              </a:tabLst>
            </a:pPr>
            <a:r>
              <a:rPr sz="7200" b="0" spc="40" dirty="0">
                <a:solidFill>
                  <a:srgbClr val="005FAA"/>
                </a:solidFill>
                <a:latin typeface="Times New Roman"/>
                <a:cs typeface="Times New Roman"/>
              </a:rPr>
              <a:t>THANK</a:t>
            </a:r>
            <a:r>
              <a:rPr sz="7200" b="0" dirty="0">
                <a:solidFill>
                  <a:srgbClr val="005FAA"/>
                </a:solidFill>
                <a:latin typeface="Times New Roman"/>
                <a:cs typeface="Times New Roman"/>
              </a:rPr>
              <a:t>	</a:t>
            </a:r>
            <a:r>
              <a:rPr sz="7200" b="0" spc="-135" dirty="0">
                <a:solidFill>
                  <a:srgbClr val="E21E23"/>
                </a:solidFill>
                <a:latin typeface="Times New Roman"/>
                <a:cs typeface="Times New Roman"/>
              </a:rPr>
              <a:t>YOU</a:t>
            </a:r>
            <a:endParaRPr sz="7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777</Words>
  <Application>Microsoft Office PowerPoint</Application>
  <PresentationFormat>On-screen Show (4:3)</PresentationFormat>
  <Paragraphs>119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Verdana</vt:lpstr>
      <vt:lpstr>Office Theme</vt:lpstr>
      <vt:lpstr>PowerPoint Presentation</vt:lpstr>
      <vt:lpstr>AI-Integrated Library Management System — Data Analysis</vt:lpstr>
      <vt:lpstr>Project Overview</vt:lpstr>
      <vt:lpstr>Specific Objectives</vt:lpstr>
      <vt:lpstr>Key Features</vt:lpstr>
      <vt:lpstr>Progress Summary</vt:lpstr>
      <vt:lpstr>Detailed Progress – Development Phase</vt:lpstr>
      <vt:lpstr>Methodology</vt:lpstr>
      <vt:lpstr>Prototype/Project Flow diagram/Architecture</vt:lpstr>
      <vt:lpstr>Prototype/Project Flow diagram/Architecture</vt:lpstr>
      <vt:lpstr>Project Timeline</vt:lpstr>
      <vt:lpstr>Next Steps and Goals</vt:lpstr>
      <vt:lpstr>Data &amp; Resources</vt:lpstr>
      <vt:lpstr>Project Use cases &amp; Scope</vt:lpstr>
      <vt:lpstr>Expected Results &amp; Impact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Farhan Hussain</dc:creator>
  <cp:lastModifiedBy>Farhan Hussain</cp:lastModifiedBy>
  <cp:revision>1</cp:revision>
  <dcterms:created xsi:type="dcterms:W3CDTF">2026-04-10T16:19:49Z</dcterms:created>
  <dcterms:modified xsi:type="dcterms:W3CDTF">2026-04-10T16:26:05Z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2026-04-10T00:00:00Z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2026-04-10T00:00:00Z</vt:filetime>
  </property>
</Properties>
</file>